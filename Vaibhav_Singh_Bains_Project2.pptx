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8" r:id="rId4"/>
  </p:sldMasterIdLst>
  <p:notesMasterIdLst>
    <p:notesMasterId r:id="rId16"/>
  </p:notesMasterIdLst>
  <p:handoutMasterIdLst>
    <p:handoutMasterId r:id="rId17"/>
  </p:handoutMasterIdLst>
  <p:sldIdLst>
    <p:sldId id="312" r:id="rId5"/>
    <p:sldId id="304" r:id="rId6"/>
    <p:sldId id="323" r:id="rId7"/>
    <p:sldId id="324" r:id="rId8"/>
    <p:sldId id="325" r:id="rId9"/>
    <p:sldId id="326" r:id="rId10"/>
    <p:sldId id="327" r:id="rId11"/>
    <p:sldId id="328" r:id="rId12"/>
    <p:sldId id="329" r:id="rId13"/>
    <p:sldId id="330" r:id="rId14"/>
    <p:sldId id="331" r:id="rId1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F8DEE-A60C-4171-8EBD-382D29B51E36}" v="90" dt="2025-11-25T17:28:58.066"/>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96DFF08F-DC6B-4601-B491-B0F83F6DD2DA}" type="datetimeFigureOut">
              <a:rPr lang="en-US" smtClean="0"/>
              <a:t>11/25/2025</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dirty="0"/>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8330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80044245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38191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8185376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8044242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6F532070-5B7C-3B7C-57D2-32857CF1B746}"/>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95509A38-E804-0311-6A58-A41C2713D414}"/>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155544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ECFF6E0D-0AAC-5023-67F6-005034A6AE1C}"/>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070BB3C3-A984-DF77-95E6-A96C7B7BEDBE}"/>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404894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450B8032-95DA-9F09-9B04-58F7906A5BC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75297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7C13E554-E6BF-F447-3A39-CD4C2BF0480E}"/>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437238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0659860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88625250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3041177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67618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877037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91131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758045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44459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96DFF08F-DC6B-4601-B491-B0F83F6DD2DA}" type="datetimeFigureOut">
              <a:rPr lang="en-US" smtClean="0"/>
              <a:pPr/>
              <a:t>11/25/2025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3588201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9" r:id="rId16"/>
    <p:sldLayoutId id="2147483742"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0"/>
            <a:ext cx="6392421" cy="3831221"/>
          </a:xfrm>
        </p:spPr>
        <p:txBody>
          <a:bodyPr anchor="ctr"/>
          <a:lstStyle/>
          <a:p>
            <a:r>
              <a:rPr lang="en-US" b="0" dirty="0">
                <a:latin typeface="Poppins semibold" panose="00000700000000000000" pitchFamily="2" charset="0"/>
                <a:cs typeface="Poppins semibold" panose="00000700000000000000" pitchFamily="2" charset="0"/>
              </a:rPr>
              <a:t>Employee Attrition       Prediction for HR 	</a:t>
            </a:r>
            <a:br>
              <a:rPr lang="en-US" b="0" dirty="0">
                <a:latin typeface="Poppins semibold" panose="00000700000000000000" pitchFamily="2" charset="0"/>
                <a:cs typeface="Poppins semibold" panose="00000700000000000000" pitchFamily="2" charset="0"/>
              </a:rPr>
            </a:br>
            <a:endParaRPr lang="en-US" dirty="0">
              <a:latin typeface="Poppins semibold" panose="00000700000000000000" pitchFamily="2" charset="0"/>
              <a:cs typeface="Poppins semibold" panose="00000700000000000000" pitchFamily="2" charset="0"/>
            </a:endParaRPr>
          </a:p>
        </p:txBody>
      </p:sp>
      <p:pic>
        <p:nvPicPr>
          <p:cNvPr id="4" name="Picture 3">
            <a:extLst>
              <a:ext uri="{FF2B5EF4-FFF2-40B4-BE49-F238E27FC236}">
                <a16:creationId xmlns:a16="http://schemas.microsoft.com/office/drawing/2014/main" id="{26B8C544-333F-E6AC-F21E-B4A4ED2D2331}"/>
              </a:ext>
            </a:extLst>
          </p:cNvPr>
          <p:cNvPicPr>
            <a:picLocks noChangeAspect="1"/>
          </p:cNvPicPr>
          <p:nvPr/>
        </p:nvPicPr>
        <p:blipFill>
          <a:blip r:embed="rId3"/>
          <a:stretch>
            <a:fillRect/>
          </a:stretch>
        </p:blipFill>
        <p:spPr>
          <a:xfrm>
            <a:off x="5073521" y="2406521"/>
            <a:ext cx="2044957" cy="2044957"/>
          </a:xfrm>
          <a:prstGeom prst="roundRect">
            <a:avLst>
              <a:gd name="adj" fmla="val 16667"/>
            </a:avLst>
          </a:prstGeom>
          <a:ln>
            <a:solidFill>
              <a:schemeClr val="tx1">
                <a:lumMod val="65000"/>
                <a:lumOff val="35000"/>
              </a:schemeClr>
            </a:solidFill>
          </a:ln>
          <a:effectLst>
            <a:outerShdw blurRad="76200" dir="18900000" sy="23000" kx="-1200000" algn="bl" rotWithShape="0">
              <a:prstClr val="black">
                <a:alpha val="20000"/>
              </a:prstClr>
            </a:outerShdw>
          </a:effectLst>
          <a:scene3d>
            <a:camera prst="perspectiveRelaxed">
              <a:rot lat="19800000" lon="1200000" rev="20820000"/>
            </a:camera>
            <a:lightRig rig="threePt" dir="t"/>
          </a:scene3d>
          <a:sp3d contourW="6350" prstMaterial="matte">
            <a:bevelT w="101600" h="101600" prst="hardEdge"/>
            <a:contourClr>
              <a:srgbClr val="969696"/>
            </a:contourClr>
          </a:sp3d>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p:txBody>
          <a:bodyPr/>
          <a:lstStyle/>
          <a:p>
            <a:r>
              <a:rPr lang="en-US" dirty="0">
                <a:latin typeface="Poppins semibold" panose="00000700000000000000" pitchFamily="2" charset="0"/>
                <a:cs typeface="Poppins semibold" panose="00000700000000000000" pitchFamily="2" charset="0"/>
              </a:rPr>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303698"/>
            <a:ext cx="6583680" cy="3207344"/>
          </a:xfrm>
        </p:spPr>
        <p:txBody>
          <a:bodyPr>
            <a:normAutofit/>
          </a:bodyPr>
          <a:lstStyle/>
          <a:p>
            <a:r>
              <a:rPr lang="en-US" sz="2500" dirty="0">
                <a:latin typeface="Poppins regular"/>
              </a:rPr>
              <a:t>Objective</a:t>
            </a:r>
          </a:p>
          <a:p>
            <a:r>
              <a:rPr lang="en-US" sz="2500" dirty="0">
                <a:latin typeface="Poppins regular"/>
              </a:rPr>
              <a:t>Tools &amp; Technology</a:t>
            </a:r>
          </a:p>
          <a:p>
            <a:r>
              <a:rPr lang="en-IN" sz="2500" dirty="0">
                <a:latin typeface="Poppins regular"/>
              </a:rPr>
              <a:t>Methodology / Workflow</a:t>
            </a:r>
            <a:endParaRPr lang="en-US" sz="2500" dirty="0">
              <a:latin typeface="Poppins regular"/>
            </a:endParaRPr>
          </a:p>
          <a:p>
            <a:r>
              <a:rPr lang="en-IN" sz="2500" dirty="0">
                <a:latin typeface="Poppins regular"/>
              </a:rPr>
              <a:t>Implementation</a:t>
            </a:r>
            <a:endParaRPr lang="en-US" sz="2500" dirty="0">
              <a:latin typeface="Poppins regular"/>
            </a:endParaRPr>
          </a:p>
          <a:p>
            <a:r>
              <a:rPr lang="en-IN" sz="2500" dirty="0">
                <a:latin typeface="Poppins regular"/>
              </a:rPr>
              <a:t>Conclusion</a:t>
            </a:r>
            <a:endParaRPr lang="en-US" sz="2500" dirty="0">
              <a:latin typeface="Poppins regular"/>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39ADC-34C9-6016-8738-232428623A2C}"/>
              </a:ext>
            </a:extLst>
          </p:cNvPr>
          <p:cNvSpPr>
            <a:spLocks noGrp="1"/>
          </p:cNvSpPr>
          <p:nvPr>
            <p:ph type="title"/>
          </p:nvPr>
        </p:nvSpPr>
        <p:spPr/>
        <p:txBody>
          <a:bodyPr/>
          <a:lstStyle/>
          <a:p>
            <a:r>
              <a:rPr lang="en-IN" sz="4400" dirty="0">
                <a:latin typeface="Poppins bold"/>
                <a:cs typeface="Poppins semibold" panose="00000700000000000000" pitchFamily="2" charset="0"/>
              </a:rPr>
              <a:t>Objective</a:t>
            </a:r>
          </a:p>
        </p:txBody>
      </p:sp>
      <p:sp>
        <p:nvSpPr>
          <p:cNvPr id="3" name="Content Placeholder 2">
            <a:extLst>
              <a:ext uri="{FF2B5EF4-FFF2-40B4-BE49-F238E27FC236}">
                <a16:creationId xmlns:a16="http://schemas.microsoft.com/office/drawing/2014/main" id="{EC5ECB64-85E9-6153-D596-B8E44AFB1283}"/>
              </a:ext>
            </a:extLst>
          </p:cNvPr>
          <p:cNvSpPr>
            <a:spLocks noGrp="1"/>
          </p:cNvSpPr>
          <p:nvPr>
            <p:ph sz="half" idx="2"/>
          </p:nvPr>
        </p:nvSpPr>
        <p:spPr>
          <a:xfrm>
            <a:off x="3460565" y="2344639"/>
            <a:ext cx="7965460" cy="3497698"/>
          </a:xfrm>
        </p:spPr>
        <p:txBody>
          <a:bodyPr>
            <a:normAutofit/>
          </a:bodyPr>
          <a:lstStyle/>
          <a:p>
            <a:r>
              <a:rPr lang="en-US" sz="2000" dirty="0">
                <a:latin typeface="Poppins regular"/>
              </a:rPr>
              <a:t>To analyze employee data and identify factors affecting attrition.</a:t>
            </a:r>
          </a:p>
          <a:p>
            <a:r>
              <a:rPr lang="en-US" sz="2000" dirty="0">
                <a:latin typeface="Poppins regular"/>
              </a:rPr>
              <a:t>To build a predictive model that estimates the probability of an employee leaving.</a:t>
            </a:r>
          </a:p>
          <a:p>
            <a:r>
              <a:rPr lang="en-US" sz="2000" dirty="0">
                <a:latin typeface="Poppins regular"/>
              </a:rPr>
              <a:t>To help organizations take proactive actions to improve retention.</a:t>
            </a:r>
          </a:p>
          <a:p>
            <a:r>
              <a:rPr lang="en-US" sz="2000" dirty="0">
                <a:latin typeface="Poppins regular"/>
              </a:rPr>
              <a:t>To support HR teams with data-driven insights for better decision-making.</a:t>
            </a:r>
          </a:p>
          <a:p>
            <a:r>
              <a:rPr lang="en-US" sz="2000" dirty="0">
                <a:latin typeface="Poppins regular"/>
              </a:rPr>
              <a:t>To reduce employee turnover by identifying high-risk individuals early.</a:t>
            </a:r>
            <a:endParaRPr lang="en-IN" sz="2000" dirty="0">
              <a:latin typeface="Poppins regular"/>
            </a:endParaRPr>
          </a:p>
        </p:txBody>
      </p:sp>
      <p:sp>
        <p:nvSpPr>
          <p:cNvPr id="4" name="Slide Number Placeholder 3">
            <a:extLst>
              <a:ext uri="{FF2B5EF4-FFF2-40B4-BE49-F238E27FC236}">
                <a16:creationId xmlns:a16="http://schemas.microsoft.com/office/drawing/2014/main" id="{D0F0005A-7087-B68D-D10D-56F0F777349F}"/>
              </a:ext>
            </a:extLst>
          </p:cNvPr>
          <p:cNvSpPr>
            <a:spLocks noGrp="1"/>
          </p:cNvSpPr>
          <p:nvPr>
            <p:ph type="sldNum" sz="quarter" idx="10"/>
          </p:nvPr>
        </p:nvSpPr>
        <p:spPr/>
        <p:txBody>
          <a:bodyPr/>
          <a:lstStyle/>
          <a:p>
            <a:fld id="{48F63A3B-78C7-47BE-AE5E-E10140E04643}" type="slidenum">
              <a:rPr lang="en-US" smtClean="0"/>
              <a:pPr/>
              <a:t>3</a:t>
            </a:fld>
            <a:endParaRPr lang="en-US" dirty="0"/>
          </a:p>
        </p:txBody>
      </p:sp>
      <p:pic>
        <p:nvPicPr>
          <p:cNvPr id="6" name="Picture 5">
            <a:extLst>
              <a:ext uri="{FF2B5EF4-FFF2-40B4-BE49-F238E27FC236}">
                <a16:creationId xmlns:a16="http://schemas.microsoft.com/office/drawing/2014/main" id="{0F6B3E6A-1804-7AD7-10E1-2457B56EFFCB}"/>
              </a:ext>
            </a:extLst>
          </p:cNvPr>
          <p:cNvPicPr>
            <a:picLocks noChangeAspect="1"/>
          </p:cNvPicPr>
          <p:nvPr/>
        </p:nvPicPr>
        <p:blipFill>
          <a:blip r:embed="rId2">
            <a:extLst>
              <a:ext uri="{BEBA8EAE-BF5A-486C-A8C5-ECC9F3942E4B}">
                <a14:imgProps xmlns:a14="http://schemas.microsoft.com/office/drawing/2010/main">
                  <a14:imgLayer r:embed="rId3">
                    <a14:imgEffect>
                      <a14:artisticPaintStrokes/>
                    </a14:imgEffect>
                  </a14:imgLayer>
                </a14:imgProps>
              </a:ext>
            </a:extLst>
          </a:blip>
          <a:stretch>
            <a:fillRect/>
          </a:stretch>
        </p:blipFill>
        <p:spPr>
          <a:xfrm>
            <a:off x="501443" y="2676831"/>
            <a:ext cx="1504338" cy="1504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21040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52D1A-CB22-6803-D894-F8E1548B639D}"/>
              </a:ext>
            </a:extLst>
          </p:cNvPr>
          <p:cNvSpPr>
            <a:spLocks noGrp="1"/>
          </p:cNvSpPr>
          <p:nvPr>
            <p:ph type="title"/>
          </p:nvPr>
        </p:nvSpPr>
        <p:spPr/>
        <p:txBody>
          <a:bodyPr/>
          <a:lstStyle/>
          <a:p>
            <a:r>
              <a:rPr lang="en-IN" sz="4000" b="1" dirty="0">
                <a:solidFill>
                  <a:schemeClr val="tx1">
                    <a:lumMod val="85000"/>
                    <a:lumOff val="15000"/>
                  </a:schemeClr>
                </a:solidFill>
                <a:latin typeface="Poppins bold"/>
              </a:rPr>
              <a:t>Tools &amp; Technology</a:t>
            </a:r>
          </a:p>
        </p:txBody>
      </p:sp>
      <p:sp>
        <p:nvSpPr>
          <p:cNvPr id="3" name="Content Placeholder 2">
            <a:extLst>
              <a:ext uri="{FF2B5EF4-FFF2-40B4-BE49-F238E27FC236}">
                <a16:creationId xmlns:a16="http://schemas.microsoft.com/office/drawing/2014/main" id="{5104A9B8-0BC7-B126-D1DC-E55BE8F890F6}"/>
              </a:ext>
            </a:extLst>
          </p:cNvPr>
          <p:cNvSpPr>
            <a:spLocks noGrp="1"/>
          </p:cNvSpPr>
          <p:nvPr>
            <p:ph sz="quarter" idx="4"/>
          </p:nvPr>
        </p:nvSpPr>
        <p:spPr/>
        <p:txBody>
          <a:bodyPr>
            <a:normAutofit/>
          </a:bodyPr>
          <a:lstStyle/>
          <a:p>
            <a:r>
              <a:rPr lang="en-IN" sz="2400" dirty="0">
                <a:latin typeface="Poppins bold"/>
                <a:cs typeface="Poppins semibold" panose="00000700000000000000" pitchFamily="2" charset="0"/>
              </a:rPr>
              <a:t>Programming Language : Python </a:t>
            </a:r>
            <a:r>
              <a:rPr lang="en-US" sz="2400" dirty="0">
                <a:latin typeface="Poppins bold"/>
                <a:cs typeface="Poppins semibold" panose="00000700000000000000" pitchFamily="2" charset="0"/>
              </a:rPr>
              <a:t>– for data analysis, model building, and evaluation.</a:t>
            </a:r>
          </a:p>
          <a:p>
            <a:r>
              <a:rPr lang="en-US" sz="2400" dirty="0">
                <a:latin typeface="Poppins bold"/>
                <a:cs typeface="Poppins semibold" panose="00000700000000000000" pitchFamily="2" charset="0"/>
              </a:rPr>
              <a:t>Data Analysis : Pandas, NumPy</a:t>
            </a:r>
          </a:p>
          <a:p>
            <a:r>
              <a:rPr lang="en-IN" sz="2400" dirty="0">
                <a:latin typeface="Poppins bold"/>
                <a:cs typeface="Poppins semibold" panose="00000700000000000000" pitchFamily="2" charset="0"/>
              </a:rPr>
              <a:t>Data Visualization : Matplotlib, Seaborn, </a:t>
            </a:r>
            <a:r>
              <a:rPr lang="en-IN" sz="2400" dirty="0" err="1">
                <a:latin typeface="Poppins bold"/>
                <a:cs typeface="Poppins semibold" panose="00000700000000000000" pitchFamily="2" charset="0"/>
              </a:rPr>
              <a:t>Plotly</a:t>
            </a:r>
            <a:endParaRPr lang="en-IN" sz="2400" dirty="0">
              <a:latin typeface="Poppins bold"/>
              <a:cs typeface="Poppins semibold" panose="00000700000000000000" pitchFamily="2" charset="0"/>
            </a:endParaRPr>
          </a:p>
          <a:p>
            <a:r>
              <a:rPr lang="en-IN" sz="2400" dirty="0">
                <a:latin typeface="Poppins bold"/>
                <a:cs typeface="Poppins semibold" panose="00000700000000000000" pitchFamily="2" charset="0"/>
              </a:rPr>
              <a:t>Machine Learning : </a:t>
            </a:r>
            <a:r>
              <a:rPr lang="en-US" sz="2400" dirty="0">
                <a:latin typeface="Poppins bold"/>
                <a:cs typeface="Poppins semibold" panose="00000700000000000000" pitchFamily="2" charset="0"/>
              </a:rPr>
              <a:t>Logistic Regression, Decision Tree, SVM, Gradient Boosting, Random Forest</a:t>
            </a:r>
          </a:p>
          <a:p>
            <a:r>
              <a:rPr lang="en-US" sz="2400" dirty="0">
                <a:latin typeface="Poppins bold"/>
                <a:cs typeface="Poppins semibold" panose="00000700000000000000" pitchFamily="2" charset="0"/>
              </a:rPr>
              <a:t>Environment : </a:t>
            </a:r>
            <a:r>
              <a:rPr lang="en-US" sz="2400" dirty="0" err="1">
                <a:latin typeface="Poppins bold"/>
                <a:cs typeface="Poppins semibold" panose="00000700000000000000" pitchFamily="2" charset="0"/>
              </a:rPr>
              <a:t>Jupyter</a:t>
            </a:r>
            <a:r>
              <a:rPr lang="en-US" sz="2400" dirty="0">
                <a:latin typeface="Poppins bold"/>
                <a:cs typeface="Poppins semibold" panose="00000700000000000000" pitchFamily="2" charset="0"/>
              </a:rPr>
              <a:t> Notebook, VS Code</a:t>
            </a:r>
            <a:endParaRPr lang="en-IN" sz="2400" dirty="0">
              <a:latin typeface="Poppins bold"/>
              <a:cs typeface="Poppins semibold" panose="00000700000000000000" pitchFamily="2" charset="0"/>
            </a:endParaRPr>
          </a:p>
        </p:txBody>
      </p:sp>
      <p:sp>
        <p:nvSpPr>
          <p:cNvPr id="4" name="Slide Number Placeholder 3">
            <a:extLst>
              <a:ext uri="{FF2B5EF4-FFF2-40B4-BE49-F238E27FC236}">
                <a16:creationId xmlns:a16="http://schemas.microsoft.com/office/drawing/2014/main" id="{87778024-90A8-0629-B077-8BAAD8583A7C}"/>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678673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1A641B-3EDD-4079-36F7-68B1BECCF4E0}"/>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3" name="Oval 2">
            <a:extLst>
              <a:ext uri="{FF2B5EF4-FFF2-40B4-BE49-F238E27FC236}">
                <a16:creationId xmlns:a16="http://schemas.microsoft.com/office/drawing/2014/main" id="{C38AD2FE-A76A-2730-1336-7C1BF64E912D}"/>
              </a:ext>
            </a:extLst>
          </p:cNvPr>
          <p:cNvSpPr/>
          <p:nvPr/>
        </p:nvSpPr>
        <p:spPr>
          <a:xfrm>
            <a:off x="450748" y="2448232"/>
            <a:ext cx="1936955" cy="1961536"/>
          </a:xfrm>
          <a:prstGeom prst="ellipse">
            <a:avLst/>
          </a:prstGeom>
          <a:solidFill>
            <a:schemeClr val="tx2">
              <a:lumMod val="40000"/>
              <a:lumOff val="60000"/>
            </a:schemeClr>
          </a:solidFill>
          <a:ln>
            <a:solidFill>
              <a:schemeClr val="tx1">
                <a:lumMod val="95000"/>
                <a:lumOff val="5000"/>
              </a:schemeClr>
            </a:solidFill>
          </a:ln>
          <a:effectLst>
            <a:glow rad="63500">
              <a:schemeClr val="accent6">
                <a:satMod val="175000"/>
                <a:alpha val="40000"/>
              </a:schemeClr>
            </a:glow>
            <a:reflection blurRad="6350" stA="52000" endA="300" endPos="35000" dir="5400000" sy="-100000" algn="bl" rotWithShape="0"/>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Data Collection</a:t>
            </a:r>
          </a:p>
        </p:txBody>
      </p:sp>
      <p:sp>
        <p:nvSpPr>
          <p:cNvPr id="10" name="Oval 9">
            <a:extLst>
              <a:ext uri="{FF2B5EF4-FFF2-40B4-BE49-F238E27FC236}">
                <a16:creationId xmlns:a16="http://schemas.microsoft.com/office/drawing/2014/main" id="{AEA14188-527B-7FE3-D639-5F6B89A27AFE}"/>
              </a:ext>
            </a:extLst>
          </p:cNvPr>
          <p:cNvSpPr/>
          <p:nvPr/>
        </p:nvSpPr>
        <p:spPr>
          <a:xfrm>
            <a:off x="2735057" y="2448232"/>
            <a:ext cx="1936955" cy="1961536"/>
          </a:xfrm>
          <a:prstGeom prst="ellipse">
            <a:avLst/>
          </a:prstGeom>
          <a:solidFill>
            <a:schemeClr val="tx2">
              <a:lumMod val="40000"/>
              <a:lumOff val="60000"/>
            </a:schemeClr>
          </a:solidFill>
          <a:ln>
            <a:solidFill>
              <a:schemeClr val="tx1">
                <a:lumMod val="95000"/>
                <a:lumOff val="5000"/>
              </a:schemeClr>
            </a:solidFill>
          </a:ln>
          <a:effectLst>
            <a:glow rad="101600">
              <a:schemeClr val="accent6">
                <a:satMod val="175000"/>
                <a:alpha val="40000"/>
              </a:schemeClr>
            </a:glow>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Data Processing</a:t>
            </a:r>
          </a:p>
        </p:txBody>
      </p:sp>
      <p:sp>
        <p:nvSpPr>
          <p:cNvPr id="11" name="Oval 10">
            <a:extLst>
              <a:ext uri="{FF2B5EF4-FFF2-40B4-BE49-F238E27FC236}">
                <a16:creationId xmlns:a16="http://schemas.microsoft.com/office/drawing/2014/main" id="{31ED0526-5F53-69C7-5923-648449EEA0DD}"/>
              </a:ext>
            </a:extLst>
          </p:cNvPr>
          <p:cNvSpPr/>
          <p:nvPr/>
        </p:nvSpPr>
        <p:spPr>
          <a:xfrm>
            <a:off x="5019366" y="2448232"/>
            <a:ext cx="1936955" cy="1961536"/>
          </a:xfrm>
          <a:prstGeom prst="ellipse">
            <a:avLst/>
          </a:prstGeom>
          <a:solidFill>
            <a:schemeClr val="tx2">
              <a:lumMod val="40000"/>
              <a:lumOff val="60000"/>
            </a:schemeClr>
          </a:solidFill>
          <a:ln>
            <a:solidFill>
              <a:schemeClr val="tx1">
                <a:lumMod val="95000"/>
                <a:lumOff val="5000"/>
              </a:schemeClr>
            </a:solidFill>
          </a:ln>
          <a:effectLst>
            <a:glow rad="63500">
              <a:schemeClr val="accent6">
                <a:satMod val="175000"/>
                <a:alpha val="40000"/>
              </a:schemeClr>
            </a:glow>
            <a:reflection blurRad="6350" stA="52000" endA="300" endPos="35000" dir="5400000" sy="-100000" algn="bl" rotWithShape="0"/>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Exploratory Data </a:t>
            </a:r>
          </a:p>
          <a:p>
            <a:pPr algn="ctr"/>
            <a:r>
              <a:rPr lang="en-IN" sz="1600"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Analysis</a:t>
            </a:r>
          </a:p>
        </p:txBody>
      </p:sp>
      <p:sp>
        <p:nvSpPr>
          <p:cNvPr id="12" name="Oval 11">
            <a:extLst>
              <a:ext uri="{FF2B5EF4-FFF2-40B4-BE49-F238E27FC236}">
                <a16:creationId xmlns:a16="http://schemas.microsoft.com/office/drawing/2014/main" id="{93F15788-7C5C-CD93-8323-5231EE689C53}"/>
              </a:ext>
            </a:extLst>
          </p:cNvPr>
          <p:cNvSpPr/>
          <p:nvPr/>
        </p:nvSpPr>
        <p:spPr>
          <a:xfrm>
            <a:off x="7303675" y="2445774"/>
            <a:ext cx="1936955" cy="1961536"/>
          </a:xfrm>
          <a:prstGeom prst="ellipse">
            <a:avLst/>
          </a:prstGeom>
          <a:solidFill>
            <a:schemeClr val="tx2">
              <a:lumMod val="40000"/>
              <a:lumOff val="60000"/>
            </a:schemeClr>
          </a:solidFill>
          <a:ln>
            <a:solidFill>
              <a:schemeClr val="tx1">
                <a:lumMod val="95000"/>
                <a:lumOff val="5000"/>
              </a:schemeClr>
            </a:solidFill>
          </a:ln>
          <a:effectLst>
            <a:glow rad="139700">
              <a:schemeClr val="accent6">
                <a:satMod val="175000"/>
                <a:alpha val="40000"/>
              </a:schemeClr>
            </a:glow>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Model Training</a:t>
            </a:r>
          </a:p>
        </p:txBody>
      </p:sp>
      <p:sp>
        <p:nvSpPr>
          <p:cNvPr id="13" name="Oval 12">
            <a:extLst>
              <a:ext uri="{FF2B5EF4-FFF2-40B4-BE49-F238E27FC236}">
                <a16:creationId xmlns:a16="http://schemas.microsoft.com/office/drawing/2014/main" id="{19548E81-2F9D-16B5-43D9-2C998BE8AC5D}"/>
              </a:ext>
            </a:extLst>
          </p:cNvPr>
          <p:cNvSpPr/>
          <p:nvPr/>
        </p:nvSpPr>
        <p:spPr>
          <a:xfrm>
            <a:off x="9587984" y="2448232"/>
            <a:ext cx="1936955" cy="1961536"/>
          </a:xfrm>
          <a:prstGeom prst="ellipse">
            <a:avLst/>
          </a:prstGeom>
          <a:solidFill>
            <a:schemeClr val="tx2">
              <a:lumMod val="40000"/>
              <a:lumOff val="60000"/>
            </a:schemeClr>
          </a:solidFill>
          <a:ln>
            <a:solidFill>
              <a:schemeClr val="tx1">
                <a:lumMod val="95000"/>
                <a:lumOff val="5000"/>
              </a:schemeClr>
            </a:solidFill>
          </a:ln>
          <a:effectLst>
            <a:reflection blurRad="6350" stA="52000" endA="300" endPos="35000" dir="5400000" sy="-100000" algn="bl" rotWithShape="0"/>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sz="1490"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Model</a:t>
            </a:r>
          </a:p>
          <a:p>
            <a:pPr algn="ctr"/>
            <a:r>
              <a:rPr lang="en-IN" sz="1490" dirty="0">
                <a:ln w="0"/>
                <a:solidFill>
                  <a:schemeClr val="tx1"/>
                </a:solidFill>
                <a:effectLst>
                  <a:outerShdw blurRad="38100" dist="19050" dir="2700000" algn="tl" rotWithShape="0">
                    <a:schemeClr val="dk1">
                      <a:alpha val="40000"/>
                    </a:schemeClr>
                  </a:outerShdw>
                </a:effectLst>
                <a:latin typeface="Poppins semibold" panose="00000700000000000000" pitchFamily="2" charset="0"/>
                <a:cs typeface="Poppins semibold" panose="00000700000000000000" pitchFamily="2" charset="0"/>
              </a:rPr>
              <a:t>Deployment</a:t>
            </a:r>
          </a:p>
        </p:txBody>
      </p:sp>
      <p:sp>
        <p:nvSpPr>
          <p:cNvPr id="15" name="TextBox 14">
            <a:extLst>
              <a:ext uri="{FF2B5EF4-FFF2-40B4-BE49-F238E27FC236}">
                <a16:creationId xmlns:a16="http://schemas.microsoft.com/office/drawing/2014/main" id="{19266B14-C942-896D-9EE9-214410638D2C}"/>
              </a:ext>
            </a:extLst>
          </p:cNvPr>
          <p:cNvSpPr txBox="1"/>
          <p:nvPr/>
        </p:nvSpPr>
        <p:spPr>
          <a:xfrm>
            <a:off x="4553796" y="726324"/>
            <a:ext cx="2997378" cy="800219"/>
          </a:xfrm>
          <a:prstGeom prst="rect">
            <a:avLst/>
          </a:prstGeom>
          <a:noFill/>
        </p:spPr>
        <p:txBody>
          <a:bodyPr wrap="square" rtlCol="0">
            <a:spAutoFit/>
          </a:bodyPr>
          <a:lstStyle/>
          <a:p>
            <a:r>
              <a:rPr lang="en-IN" sz="4600" b="1" dirty="0">
                <a:solidFill>
                  <a:schemeClr val="tx2">
                    <a:lumMod val="50000"/>
                  </a:schemeClr>
                </a:solidFill>
                <a:latin typeface="Poppins semibold" panose="00000700000000000000" pitchFamily="2" charset="0"/>
                <a:cs typeface="Poppins semibold" panose="00000700000000000000" pitchFamily="2" charset="0"/>
              </a:rPr>
              <a:t>Workflow</a:t>
            </a:r>
          </a:p>
        </p:txBody>
      </p:sp>
    </p:spTree>
    <p:extLst>
      <p:ext uri="{BB962C8B-B14F-4D97-AF65-F5344CB8AC3E}">
        <p14:creationId xmlns:p14="http://schemas.microsoft.com/office/powerpoint/2010/main" val="2558452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329F8-BA68-0DE9-ACFF-552B92AF7DEA}"/>
              </a:ext>
            </a:extLst>
          </p:cNvPr>
          <p:cNvSpPr>
            <a:spLocks noGrp="1"/>
          </p:cNvSpPr>
          <p:nvPr>
            <p:ph type="title"/>
          </p:nvPr>
        </p:nvSpPr>
        <p:spPr>
          <a:xfrm>
            <a:off x="914400" y="491612"/>
            <a:ext cx="9875520" cy="776748"/>
          </a:xfrm>
        </p:spPr>
        <p:txBody>
          <a:bodyPr/>
          <a:lstStyle/>
          <a:p>
            <a:r>
              <a:rPr lang="en-IN" b="1" dirty="0">
                <a:solidFill>
                  <a:schemeClr val="accent1">
                    <a:lumMod val="75000"/>
                  </a:schemeClr>
                </a:solidFill>
                <a:latin typeface="Poppins bold" panose="00000800000000000000"/>
              </a:rPr>
              <a:t>Methodology</a:t>
            </a:r>
          </a:p>
        </p:txBody>
      </p:sp>
      <p:sp>
        <p:nvSpPr>
          <p:cNvPr id="3" name="Content Placeholder 2">
            <a:extLst>
              <a:ext uri="{FF2B5EF4-FFF2-40B4-BE49-F238E27FC236}">
                <a16:creationId xmlns:a16="http://schemas.microsoft.com/office/drawing/2014/main" id="{76617F1D-870D-D507-1F36-BC79FC6A7586}"/>
              </a:ext>
            </a:extLst>
          </p:cNvPr>
          <p:cNvSpPr>
            <a:spLocks noGrp="1"/>
          </p:cNvSpPr>
          <p:nvPr>
            <p:ph sz="half" idx="1"/>
          </p:nvPr>
        </p:nvSpPr>
        <p:spPr>
          <a:xfrm>
            <a:off x="914400" y="1417319"/>
            <a:ext cx="4983480" cy="4929403"/>
          </a:xfrm>
        </p:spPr>
        <p:txBody>
          <a:bodyPr>
            <a:normAutofit/>
          </a:bodyPr>
          <a:lstStyle/>
          <a:p>
            <a:pPr marL="45720" indent="0">
              <a:buNone/>
            </a:pPr>
            <a:r>
              <a:rPr lang="en-US" sz="2000" b="1" dirty="0">
                <a:latin typeface="Poppins regular"/>
              </a:rPr>
              <a:t>Problem Understanding</a:t>
            </a:r>
          </a:p>
          <a:p>
            <a:r>
              <a:rPr lang="en-US" sz="2000" dirty="0">
                <a:latin typeface="Poppins regular"/>
              </a:rPr>
              <a:t>Identify the goal: Predict whether an employee will leave the company.</a:t>
            </a:r>
          </a:p>
          <a:p>
            <a:r>
              <a:rPr lang="en-US" sz="2000" dirty="0">
                <a:latin typeface="Poppins regular"/>
              </a:rPr>
              <a:t>Understand HR-related factors influencing attrition.</a:t>
            </a:r>
          </a:p>
          <a:p>
            <a:pPr marL="45720" indent="0">
              <a:buNone/>
            </a:pPr>
            <a:r>
              <a:rPr lang="en-US" sz="2000" b="1" dirty="0">
                <a:latin typeface="Poppins regular"/>
              </a:rPr>
              <a:t>Data Collection</a:t>
            </a:r>
          </a:p>
          <a:p>
            <a:r>
              <a:rPr lang="en-US" sz="2000" dirty="0">
                <a:latin typeface="Poppins regular"/>
              </a:rPr>
              <a:t>Use the Employee Attrition dataset containing demographics, job-related, and performance-related features.</a:t>
            </a:r>
          </a:p>
          <a:p>
            <a:pPr marL="45720" indent="0">
              <a:buNone/>
            </a:pPr>
            <a:r>
              <a:rPr lang="en-IN" sz="2000" b="1" dirty="0">
                <a:latin typeface="Poppins regular"/>
              </a:rPr>
              <a:t>Data Preprocessing</a:t>
            </a:r>
          </a:p>
          <a:p>
            <a:r>
              <a:rPr lang="en-IN" sz="2000" dirty="0">
                <a:latin typeface="Poppins regular"/>
              </a:rPr>
              <a:t>Handle missing values</a:t>
            </a:r>
          </a:p>
          <a:p>
            <a:r>
              <a:rPr lang="en-IN" sz="2000" dirty="0">
                <a:latin typeface="Poppins regular"/>
              </a:rPr>
              <a:t>Encode categorical variables</a:t>
            </a:r>
          </a:p>
          <a:p>
            <a:endParaRPr lang="en-US" sz="2000" dirty="0">
              <a:latin typeface="Poppins regular"/>
            </a:endParaRPr>
          </a:p>
          <a:p>
            <a:endParaRPr lang="en-IN" sz="2000" dirty="0">
              <a:latin typeface="Poppins regular"/>
            </a:endParaRPr>
          </a:p>
        </p:txBody>
      </p:sp>
      <p:sp>
        <p:nvSpPr>
          <p:cNvPr id="4" name="Content Placeholder 3">
            <a:extLst>
              <a:ext uri="{FF2B5EF4-FFF2-40B4-BE49-F238E27FC236}">
                <a16:creationId xmlns:a16="http://schemas.microsoft.com/office/drawing/2014/main" id="{BD58F99C-F090-386D-F694-DA3A1FEDC83C}"/>
              </a:ext>
            </a:extLst>
          </p:cNvPr>
          <p:cNvSpPr>
            <a:spLocks noGrp="1"/>
          </p:cNvSpPr>
          <p:nvPr>
            <p:ph sz="half" idx="2"/>
          </p:nvPr>
        </p:nvSpPr>
        <p:spPr>
          <a:xfrm>
            <a:off x="6080760" y="1329812"/>
            <a:ext cx="5501640" cy="5016910"/>
          </a:xfrm>
        </p:spPr>
        <p:txBody>
          <a:bodyPr>
            <a:normAutofit/>
          </a:bodyPr>
          <a:lstStyle/>
          <a:p>
            <a:pPr marL="45720" indent="0">
              <a:buNone/>
            </a:pPr>
            <a:r>
              <a:rPr lang="en-US" sz="2000" b="1" dirty="0">
                <a:latin typeface="Poppins regular"/>
              </a:rPr>
              <a:t>Exploratory Data Analysis (EDA)</a:t>
            </a:r>
          </a:p>
          <a:p>
            <a:r>
              <a:rPr lang="en-US" sz="2000" dirty="0">
                <a:latin typeface="Poppins regular"/>
              </a:rPr>
              <a:t>Identify patterns and correlations</a:t>
            </a:r>
          </a:p>
          <a:p>
            <a:r>
              <a:rPr lang="en-US" sz="2000" dirty="0">
                <a:latin typeface="Poppins regular"/>
              </a:rPr>
              <a:t>Visualize attrition trends by job role, salary, age, overtime, etc.</a:t>
            </a:r>
          </a:p>
          <a:p>
            <a:r>
              <a:rPr lang="en-US" sz="2000" dirty="0">
                <a:latin typeface="Poppins regular"/>
              </a:rPr>
              <a:t>Detect key drivers of attrition</a:t>
            </a:r>
          </a:p>
          <a:p>
            <a:pPr marL="45720" indent="0">
              <a:buNone/>
            </a:pPr>
            <a:r>
              <a:rPr lang="en-IN" sz="2000" b="1" dirty="0">
                <a:latin typeface="Poppins regular"/>
              </a:rPr>
              <a:t>Model Training</a:t>
            </a:r>
          </a:p>
          <a:p>
            <a:r>
              <a:rPr lang="en-US" sz="2000" dirty="0">
                <a:latin typeface="Poppins regular"/>
              </a:rPr>
              <a:t>Train Multiple Models</a:t>
            </a:r>
          </a:p>
          <a:p>
            <a:r>
              <a:rPr lang="en-US" sz="2000" dirty="0">
                <a:latin typeface="Poppins regular"/>
              </a:rPr>
              <a:t>Evaluate using F1-Score, Precision, Recall, AUC</a:t>
            </a:r>
          </a:p>
          <a:p>
            <a:pPr marL="45720" indent="0">
              <a:buNone/>
            </a:pPr>
            <a:r>
              <a:rPr lang="en-US" sz="2000" b="1" dirty="0">
                <a:latin typeface="Poppins regular"/>
              </a:rPr>
              <a:t>Model Deployment</a:t>
            </a:r>
          </a:p>
          <a:p>
            <a:r>
              <a:rPr lang="en-US" sz="2000" dirty="0">
                <a:latin typeface="Poppins regular"/>
              </a:rPr>
              <a:t>Save the trained model using </a:t>
            </a:r>
            <a:r>
              <a:rPr lang="en-US" sz="2000" b="1" dirty="0" err="1">
                <a:latin typeface="Poppins regular"/>
              </a:rPr>
              <a:t>Joblib</a:t>
            </a:r>
            <a:endParaRPr lang="en-US" sz="2000" b="1" dirty="0">
              <a:latin typeface="Poppins regular"/>
            </a:endParaRPr>
          </a:p>
          <a:p>
            <a:r>
              <a:rPr lang="en-US" sz="2000" dirty="0">
                <a:latin typeface="Poppins regular"/>
              </a:rPr>
              <a:t>Ready to integrate into applications</a:t>
            </a:r>
            <a:endParaRPr lang="en-US" sz="2000" b="1" dirty="0">
              <a:latin typeface="Poppins regular"/>
            </a:endParaRPr>
          </a:p>
        </p:txBody>
      </p:sp>
      <p:sp>
        <p:nvSpPr>
          <p:cNvPr id="5" name="Slide Number Placeholder 4">
            <a:extLst>
              <a:ext uri="{FF2B5EF4-FFF2-40B4-BE49-F238E27FC236}">
                <a16:creationId xmlns:a16="http://schemas.microsoft.com/office/drawing/2014/main" id="{D3B2AB52-4BFB-AB1B-5F2F-F4EC59D89CED}"/>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27122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BA057-24D6-838E-78EA-3C1E6A972608}"/>
              </a:ext>
            </a:extLst>
          </p:cNvPr>
          <p:cNvSpPr>
            <a:spLocks noGrp="1"/>
          </p:cNvSpPr>
          <p:nvPr>
            <p:ph type="title"/>
          </p:nvPr>
        </p:nvSpPr>
        <p:spPr>
          <a:xfrm>
            <a:off x="4081616" y="609600"/>
            <a:ext cx="4028768" cy="658761"/>
          </a:xfrm>
        </p:spPr>
        <p:txBody>
          <a:bodyPr>
            <a:normAutofit fontScale="90000"/>
          </a:bodyPr>
          <a:lstStyle/>
          <a:p>
            <a:r>
              <a:rPr lang="en-IN" b="1" dirty="0">
                <a:latin typeface="Poppins bold"/>
              </a:rPr>
              <a:t>Implementation</a:t>
            </a:r>
          </a:p>
        </p:txBody>
      </p:sp>
      <p:sp>
        <p:nvSpPr>
          <p:cNvPr id="3" name="Slide Number Placeholder 2">
            <a:extLst>
              <a:ext uri="{FF2B5EF4-FFF2-40B4-BE49-F238E27FC236}">
                <a16:creationId xmlns:a16="http://schemas.microsoft.com/office/drawing/2014/main" id="{44149E48-3187-9F02-832A-A230A5350E62}"/>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4" name="TextBox 3">
            <a:extLst>
              <a:ext uri="{FF2B5EF4-FFF2-40B4-BE49-F238E27FC236}">
                <a16:creationId xmlns:a16="http://schemas.microsoft.com/office/drawing/2014/main" id="{50AFA7CA-D1EA-DC42-B00B-BFF7B5465414}"/>
              </a:ext>
            </a:extLst>
          </p:cNvPr>
          <p:cNvSpPr txBox="1"/>
          <p:nvPr/>
        </p:nvSpPr>
        <p:spPr>
          <a:xfrm>
            <a:off x="8954802" y="1268361"/>
            <a:ext cx="2455672" cy="523220"/>
          </a:xfrm>
          <a:prstGeom prst="rect">
            <a:avLst/>
          </a:prstGeom>
          <a:noFill/>
        </p:spPr>
        <p:txBody>
          <a:bodyPr wrap="none" rtlCol="0">
            <a:spAutoFit/>
          </a:bodyPr>
          <a:lstStyle/>
          <a:p>
            <a:pPr algn="r"/>
            <a:r>
              <a:rPr lang="en-IN" sz="2800" b="1" dirty="0">
                <a:solidFill>
                  <a:schemeClr val="accent3">
                    <a:lumMod val="75000"/>
                  </a:schemeClr>
                </a:solidFill>
                <a:latin typeface="Poppins bold" panose="00000800000000000000"/>
              </a:rPr>
              <a:t>Data Collection</a:t>
            </a:r>
          </a:p>
        </p:txBody>
      </p:sp>
      <p:pic>
        <p:nvPicPr>
          <p:cNvPr id="6" name="Picture 5">
            <a:extLst>
              <a:ext uri="{FF2B5EF4-FFF2-40B4-BE49-F238E27FC236}">
                <a16:creationId xmlns:a16="http://schemas.microsoft.com/office/drawing/2014/main" id="{54F5FEA0-3B05-85A5-B4DF-4B0194D1DDB4}"/>
              </a:ext>
            </a:extLst>
          </p:cNvPr>
          <p:cNvPicPr>
            <a:picLocks noChangeAspect="1"/>
          </p:cNvPicPr>
          <p:nvPr/>
        </p:nvPicPr>
        <p:blipFill>
          <a:blip r:embed="rId2"/>
          <a:stretch>
            <a:fillRect/>
          </a:stretch>
        </p:blipFill>
        <p:spPr>
          <a:xfrm>
            <a:off x="3368815" y="1861552"/>
            <a:ext cx="8041659" cy="1757592"/>
          </a:xfrm>
          <a:prstGeom prst="roundRect">
            <a:avLst>
              <a:gd name="adj" fmla="val 8594"/>
            </a:avLst>
          </a:prstGeom>
          <a:solidFill>
            <a:srgbClr val="FFFFFF">
              <a:shade val="85000"/>
            </a:srgbClr>
          </a:solidFill>
          <a:ln>
            <a:noFill/>
          </a:ln>
          <a:effectLst>
            <a:glow rad="63500">
              <a:schemeClr val="accent6">
                <a:satMod val="175000"/>
                <a:alpha val="40000"/>
              </a:schemeClr>
            </a:glow>
            <a:reflection blurRad="12700" stA="38000" endPos="28000" dist="5000" dir="5400000" sy="-100000" algn="bl" rotWithShape="0"/>
          </a:effectLst>
        </p:spPr>
      </p:pic>
      <p:sp>
        <p:nvSpPr>
          <p:cNvPr id="7" name="TextBox 6">
            <a:extLst>
              <a:ext uri="{FF2B5EF4-FFF2-40B4-BE49-F238E27FC236}">
                <a16:creationId xmlns:a16="http://schemas.microsoft.com/office/drawing/2014/main" id="{05E7E69C-5135-9D98-4F73-60A7AB35A532}"/>
              </a:ext>
            </a:extLst>
          </p:cNvPr>
          <p:cNvSpPr txBox="1"/>
          <p:nvPr/>
        </p:nvSpPr>
        <p:spPr>
          <a:xfrm>
            <a:off x="468367" y="4298989"/>
            <a:ext cx="3081078" cy="523220"/>
          </a:xfrm>
          <a:prstGeom prst="rect">
            <a:avLst/>
          </a:prstGeom>
          <a:noFill/>
        </p:spPr>
        <p:txBody>
          <a:bodyPr wrap="square" rtlCol="0">
            <a:spAutoFit/>
          </a:bodyPr>
          <a:lstStyle/>
          <a:p>
            <a:r>
              <a:rPr lang="en-IN" sz="2800" b="1" dirty="0">
                <a:solidFill>
                  <a:schemeClr val="accent3">
                    <a:lumMod val="75000"/>
                  </a:schemeClr>
                </a:solidFill>
                <a:latin typeface="Poppins bold" panose="00000800000000000000"/>
              </a:rPr>
              <a:t>Data Preprocessing</a:t>
            </a:r>
          </a:p>
        </p:txBody>
      </p:sp>
      <p:pic>
        <p:nvPicPr>
          <p:cNvPr id="9" name="Picture 8">
            <a:extLst>
              <a:ext uri="{FF2B5EF4-FFF2-40B4-BE49-F238E27FC236}">
                <a16:creationId xmlns:a16="http://schemas.microsoft.com/office/drawing/2014/main" id="{189CD9A7-6B63-1D7A-F1C4-06368253C3C6}"/>
              </a:ext>
            </a:extLst>
          </p:cNvPr>
          <p:cNvPicPr>
            <a:picLocks noChangeAspect="1"/>
          </p:cNvPicPr>
          <p:nvPr/>
        </p:nvPicPr>
        <p:blipFill>
          <a:blip r:embed="rId3"/>
          <a:stretch>
            <a:fillRect/>
          </a:stretch>
        </p:blipFill>
        <p:spPr>
          <a:xfrm>
            <a:off x="468367" y="4956471"/>
            <a:ext cx="9511375" cy="950148"/>
          </a:xfrm>
          <a:prstGeom prst="roundRect">
            <a:avLst>
              <a:gd name="adj" fmla="val 8594"/>
            </a:avLst>
          </a:prstGeom>
          <a:solidFill>
            <a:srgbClr val="FFFFFF">
              <a:shade val="85000"/>
            </a:srgbClr>
          </a:solidFill>
          <a:ln>
            <a:noFill/>
          </a:ln>
          <a:effectLst>
            <a:glow rad="101600">
              <a:schemeClr val="accent6">
                <a:satMod val="175000"/>
                <a:alpha val="40000"/>
              </a:schemeClr>
            </a:glow>
            <a:reflection blurRad="12700" stA="38000" endPos="28000" dist="5000" dir="5400000" sy="-100000" algn="bl" rotWithShape="0"/>
          </a:effectLst>
        </p:spPr>
      </p:pic>
    </p:spTree>
    <p:extLst>
      <p:ext uri="{BB962C8B-B14F-4D97-AF65-F5344CB8AC3E}">
        <p14:creationId xmlns:p14="http://schemas.microsoft.com/office/powerpoint/2010/main" val="2053828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665772-011C-DF08-6212-7F0F72B64C02}"/>
              </a:ext>
            </a:extLst>
          </p:cNvPr>
          <p:cNvSpPr>
            <a:spLocks noGrp="1"/>
          </p:cNvSpPr>
          <p:nvPr>
            <p:ph type="sldNum" sz="quarter" idx="12"/>
          </p:nvPr>
        </p:nvSpPr>
        <p:spPr/>
        <p:txBody>
          <a:bodyPr/>
          <a:lstStyle/>
          <a:p>
            <a:fld id="{48F63A3B-78C7-47BE-AE5E-E10140E04643}" type="slidenum">
              <a:rPr lang="en-US" smtClean="0"/>
              <a:pPr/>
              <a:t>8</a:t>
            </a:fld>
            <a:endParaRPr lang="en-US" dirty="0"/>
          </a:p>
        </p:txBody>
      </p:sp>
      <p:pic>
        <p:nvPicPr>
          <p:cNvPr id="4" name="Picture 3">
            <a:extLst>
              <a:ext uri="{FF2B5EF4-FFF2-40B4-BE49-F238E27FC236}">
                <a16:creationId xmlns:a16="http://schemas.microsoft.com/office/drawing/2014/main" id="{B1901273-AB9A-C02F-E365-CB815519B65E}"/>
              </a:ext>
            </a:extLst>
          </p:cNvPr>
          <p:cNvPicPr>
            <a:picLocks noChangeAspect="1"/>
          </p:cNvPicPr>
          <p:nvPr/>
        </p:nvPicPr>
        <p:blipFill>
          <a:blip r:embed="rId2"/>
          <a:stretch>
            <a:fillRect/>
          </a:stretch>
        </p:blipFill>
        <p:spPr>
          <a:xfrm>
            <a:off x="5446997" y="1324757"/>
            <a:ext cx="6025502" cy="3039875"/>
          </a:xfrm>
          <a:prstGeom prst="rect">
            <a:avLst/>
          </a:prstGeom>
          <a:ln w="88900" cap="sq" cmpd="thickThin">
            <a:solidFill>
              <a:srgbClr val="000000"/>
            </a:solidFill>
            <a:prstDash val="solid"/>
            <a:miter lim="800000"/>
          </a:ln>
          <a:effectLst>
            <a:glow rad="139700">
              <a:schemeClr val="accent6">
                <a:satMod val="175000"/>
                <a:alpha val="40000"/>
              </a:schemeClr>
            </a:glow>
            <a:innerShdw blurRad="76200">
              <a:srgbClr val="000000"/>
            </a:innerShdw>
          </a:effectLst>
        </p:spPr>
      </p:pic>
      <p:sp>
        <p:nvSpPr>
          <p:cNvPr id="5" name="TextBox 4">
            <a:extLst>
              <a:ext uri="{FF2B5EF4-FFF2-40B4-BE49-F238E27FC236}">
                <a16:creationId xmlns:a16="http://schemas.microsoft.com/office/drawing/2014/main" id="{A970D588-DBB0-12BB-0D8C-299EE7D13C5F}"/>
              </a:ext>
            </a:extLst>
          </p:cNvPr>
          <p:cNvSpPr txBox="1"/>
          <p:nvPr/>
        </p:nvSpPr>
        <p:spPr>
          <a:xfrm>
            <a:off x="8848213" y="689986"/>
            <a:ext cx="2423420" cy="523220"/>
          </a:xfrm>
          <a:prstGeom prst="rect">
            <a:avLst/>
          </a:prstGeom>
          <a:noFill/>
        </p:spPr>
        <p:txBody>
          <a:bodyPr wrap="none" rtlCol="0">
            <a:spAutoFit/>
          </a:bodyPr>
          <a:lstStyle/>
          <a:p>
            <a:r>
              <a:rPr lang="en-IN" sz="2800" b="1" dirty="0">
                <a:solidFill>
                  <a:schemeClr val="accent3">
                    <a:lumMod val="75000"/>
                  </a:schemeClr>
                </a:solidFill>
                <a:latin typeface="Poppins bold"/>
              </a:rPr>
              <a:t>Model Training</a:t>
            </a:r>
          </a:p>
        </p:txBody>
      </p:sp>
      <p:pic>
        <p:nvPicPr>
          <p:cNvPr id="7" name="Picture 6">
            <a:extLst>
              <a:ext uri="{FF2B5EF4-FFF2-40B4-BE49-F238E27FC236}">
                <a16:creationId xmlns:a16="http://schemas.microsoft.com/office/drawing/2014/main" id="{403C08FA-F47A-DB52-AC72-6AB66CA33B05}"/>
              </a:ext>
            </a:extLst>
          </p:cNvPr>
          <p:cNvPicPr>
            <a:picLocks noChangeAspect="1"/>
          </p:cNvPicPr>
          <p:nvPr/>
        </p:nvPicPr>
        <p:blipFill>
          <a:blip r:embed="rId3"/>
          <a:stretch>
            <a:fillRect/>
          </a:stretch>
        </p:blipFill>
        <p:spPr>
          <a:xfrm>
            <a:off x="739093" y="4737793"/>
            <a:ext cx="6025502" cy="1401475"/>
          </a:xfrm>
          <a:prstGeom prst="rect">
            <a:avLst/>
          </a:prstGeom>
          <a:ln w="88900" cap="sq" cmpd="thickThin">
            <a:solidFill>
              <a:srgbClr val="000000"/>
            </a:solidFill>
            <a:prstDash val="solid"/>
            <a:miter lim="800000"/>
          </a:ln>
          <a:effectLst>
            <a:glow rad="139700">
              <a:schemeClr val="accent6">
                <a:satMod val="175000"/>
                <a:alpha val="40000"/>
              </a:schemeClr>
            </a:glow>
            <a:innerShdw blurRad="76200">
              <a:srgbClr val="000000"/>
            </a:innerShdw>
          </a:effectLst>
        </p:spPr>
      </p:pic>
      <p:sp>
        <p:nvSpPr>
          <p:cNvPr id="8" name="TextBox 7">
            <a:extLst>
              <a:ext uri="{FF2B5EF4-FFF2-40B4-BE49-F238E27FC236}">
                <a16:creationId xmlns:a16="http://schemas.microsoft.com/office/drawing/2014/main" id="{EC9D4F4D-5EE8-7B95-7F8C-84C76DB51E27}"/>
              </a:ext>
            </a:extLst>
          </p:cNvPr>
          <p:cNvSpPr txBox="1"/>
          <p:nvPr/>
        </p:nvSpPr>
        <p:spPr>
          <a:xfrm>
            <a:off x="682414" y="4103022"/>
            <a:ext cx="3069430" cy="523220"/>
          </a:xfrm>
          <a:prstGeom prst="rect">
            <a:avLst/>
          </a:prstGeom>
          <a:noFill/>
        </p:spPr>
        <p:txBody>
          <a:bodyPr wrap="none" rtlCol="0">
            <a:spAutoFit/>
          </a:bodyPr>
          <a:lstStyle/>
          <a:p>
            <a:r>
              <a:rPr lang="en-IN" sz="2800" b="1" dirty="0">
                <a:solidFill>
                  <a:schemeClr val="accent3">
                    <a:lumMod val="75000"/>
                  </a:schemeClr>
                </a:solidFill>
                <a:latin typeface="Poppins bold"/>
              </a:rPr>
              <a:t>Model Deployment</a:t>
            </a:r>
          </a:p>
        </p:txBody>
      </p:sp>
    </p:spTree>
    <p:extLst>
      <p:ext uri="{BB962C8B-B14F-4D97-AF65-F5344CB8AC3E}">
        <p14:creationId xmlns:p14="http://schemas.microsoft.com/office/powerpoint/2010/main" val="682090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F8E0-76B6-2EEE-8E6A-11986E1EB2EB}"/>
              </a:ext>
            </a:extLst>
          </p:cNvPr>
          <p:cNvSpPr>
            <a:spLocks noGrp="1"/>
          </p:cNvSpPr>
          <p:nvPr>
            <p:ph type="title"/>
          </p:nvPr>
        </p:nvSpPr>
        <p:spPr>
          <a:xfrm>
            <a:off x="759389" y="1033000"/>
            <a:ext cx="7843837" cy="1012782"/>
          </a:xfrm>
        </p:spPr>
        <p:txBody>
          <a:bodyPr/>
          <a:lstStyle/>
          <a:p>
            <a:r>
              <a:rPr lang="en-IN" sz="4000" dirty="0">
                <a:latin typeface="Poppins bold"/>
              </a:rPr>
              <a:t>Conclusion</a:t>
            </a:r>
          </a:p>
        </p:txBody>
      </p:sp>
      <p:sp>
        <p:nvSpPr>
          <p:cNvPr id="3" name="Content Placeholder 2">
            <a:extLst>
              <a:ext uri="{FF2B5EF4-FFF2-40B4-BE49-F238E27FC236}">
                <a16:creationId xmlns:a16="http://schemas.microsoft.com/office/drawing/2014/main" id="{6CCE33DB-E0E1-1F43-6828-AFDE0D17609C}"/>
              </a:ext>
            </a:extLst>
          </p:cNvPr>
          <p:cNvSpPr>
            <a:spLocks noGrp="1"/>
          </p:cNvSpPr>
          <p:nvPr>
            <p:ph idx="13"/>
          </p:nvPr>
        </p:nvSpPr>
        <p:spPr>
          <a:xfrm>
            <a:off x="621737" y="2192595"/>
            <a:ext cx="7843837" cy="3861014"/>
          </a:xfrm>
        </p:spPr>
        <p:txBody>
          <a:bodyPr>
            <a:noAutofit/>
          </a:bodyPr>
          <a:lstStyle/>
          <a:p>
            <a:pPr marL="342900" indent="-342900">
              <a:buFont typeface="Arial" panose="020B0604020202020204" pitchFamily="34" charset="0"/>
              <a:buChar char="•"/>
            </a:pPr>
            <a:r>
              <a:rPr lang="en-US" sz="1800" dirty="0">
                <a:latin typeface="Poppins regular" panose="00000500000000000000"/>
              </a:rPr>
              <a:t>The project successfully developed a reliable Machine Learning model to predict employee attrition using HR and performance-related data.</a:t>
            </a:r>
          </a:p>
          <a:p>
            <a:pPr marL="342900" indent="-342900">
              <a:buFont typeface="Arial" panose="020B0604020202020204" pitchFamily="34" charset="0"/>
              <a:buChar char="•"/>
            </a:pPr>
            <a:r>
              <a:rPr lang="en-US" sz="1800" dirty="0">
                <a:latin typeface="Poppins regular" panose="00000500000000000000"/>
              </a:rPr>
              <a:t>After evaluating multiple models, </a:t>
            </a:r>
            <a:r>
              <a:rPr lang="en-US" sz="1800" b="1" dirty="0">
                <a:latin typeface="Poppins regular" panose="00000500000000000000"/>
              </a:rPr>
              <a:t>Random Forest</a:t>
            </a:r>
            <a:r>
              <a:rPr lang="en-US" sz="1800" dirty="0">
                <a:latin typeface="Poppins regular" panose="00000500000000000000"/>
              </a:rPr>
              <a:t> emerged as the best performer, giving the highest F1-score and consistent results across cross-validation.</a:t>
            </a:r>
          </a:p>
          <a:p>
            <a:pPr marL="342900" indent="-342900">
              <a:buFont typeface="Arial" panose="020B0604020202020204" pitchFamily="34" charset="0"/>
              <a:buChar char="•"/>
            </a:pPr>
            <a:r>
              <a:rPr lang="en-US" sz="1800" dirty="0">
                <a:latin typeface="Poppins regular" panose="00000500000000000000"/>
              </a:rPr>
              <a:t>The model provides actionable insights by identifying key factors influencing attrition, helping organizations take proactive retention measures.</a:t>
            </a:r>
          </a:p>
          <a:p>
            <a:pPr marL="342900" indent="-342900">
              <a:buFont typeface="Arial" panose="020B0604020202020204" pitchFamily="34" charset="0"/>
              <a:buChar char="•"/>
            </a:pPr>
            <a:r>
              <a:rPr lang="en-US" sz="1800" dirty="0">
                <a:latin typeface="Poppins regular" panose="00000500000000000000"/>
              </a:rPr>
              <a:t>Predicting attrition probability helps HR teams prioritize high-risk employees and implement targeted interventions.</a:t>
            </a:r>
          </a:p>
          <a:p>
            <a:pPr marL="342900" indent="-342900">
              <a:buFont typeface="Arial" panose="020B0604020202020204" pitchFamily="34" charset="0"/>
              <a:buChar char="•"/>
            </a:pPr>
            <a:r>
              <a:rPr lang="en-US" sz="1800" dirty="0">
                <a:latin typeface="Poppins regular" panose="00000500000000000000"/>
              </a:rPr>
              <a:t>Overall, the solution supports data-driven decision-making, reduces turnover risk, and contributes to improved organizational stability and employee satisfaction.</a:t>
            </a:r>
            <a:endParaRPr lang="en-IN" sz="1800" dirty="0">
              <a:latin typeface="Poppins regular" panose="00000500000000000000"/>
            </a:endParaRPr>
          </a:p>
        </p:txBody>
      </p:sp>
      <p:pic>
        <p:nvPicPr>
          <p:cNvPr id="10" name="Picture Placeholder 9" descr="Employee badge with solid fill">
            <a:extLst>
              <a:ext uri="{FF2B5EF4-FFF2-40B4-BE49-F238E27FC236}">
                <a16:creationId xmlns:a16="http://schemas.microsoft.com/office/drawing/2014/main" id="{29971DAC-B17D-FB5A-F520-19918A7F5552}"/>
              </a:ext>
            </a:extLst>
          </p:cNvPr>
          <p:cNvPicPr>
            <a:picLocks noGrp="1" noChangeAspect="1"/>
          </p:cNvPicPr>
          <p:nvPr>
            <p:ph type="pic" sz="quarter" idx="14"/>
          </p:nvPr>
        </p:nvPicPr>
        <p:blipFill>
          <a:blip r:embed="rId2">
            <a:extLst>
              <a:ext uri="{96DAC541-7B7A-43D3-8B79-37D633B846F1}">
                <asvg:svgBlip xmlns:asvg="http://schemas.microsoft.com/office/drawing/2016/SVG/main" r:embed="rId3"/>
              </a:ext>
            </a:extLst>
          </a:blip>
          <a:srcRect l="3632" r="3632"/>
          <a:stretch>
            <a:fillRect/>
          </a:stretch>
        </p:blipFill>
        <p:spPr/>
      </p:pic>
      <p:sp>
        <p:nvSpPr>
          <p:cNvPr id="5" name="Slide Number Placeholder 4">
            <a:extLst>
              <a:ext uri="{FF2B5EF4-FFF2-40B4-BE49-F238E27FC236}">
                <a16:creationId xmlns:a16="http://schemas.microsoft.com/office/drawing/2014/main" id="{C1A259B2-C2A9-F021-88F8-F68578EE6580}"/>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568906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09A4-C455-CA20-B8D6-18ED626C385E}"/>
              </a:ext>
            </a:extLst>
          </p:cNvPr>
          <p:cNvSpPr>
            <a:spLocks noGrp="1"/>
          </p:cNvSpPr>
          <p:nvPr>
            <p:ph type="title"/>
          </p:nvPr>
        </p:nvSpPr>
        <p:spPr/>
        <p:txBody>
          <a:bodyPr/>
          <a:lstStyle/>
          <a:p>
            <a:r>
              <a:rPr lang="en-IN" sz="4000" dirty="0">
                <a:latin typeface="Poppins bold"/>
              </a:rPr>
              <a:t>Summary</a:t>
            </a:r>
          </a:p>
        </p:txBody>
      </p:sp>
      <p:sp>
        <p:nvSpPr>
          <p:cNvPr id="3" name="Content Placeholder 2">
            <a:extLst>
              <a:ext uri="{FF2B5EF4-FFF2-40B4-BE49-F238E27FC236}">
                <a16:creationId xmlns:a16="http://schemas.microsoft.com/office/drawing/2014/main" id="{021050E8-32DD-5E5C-29FD-DDD3E2111BF5}"/>
              </a:ext>
            </a:extLst>
          </p:cNvPr>
          <p:cNvSpPr>
            <a:spLocks noGrp="1"/>
          </p:cNvSpPr>
          <p:nvPr>
            <p:ph sz="half" idx="2"/>
          </p:nvPr>
        </p:nvSpPr>
        <p:spPr/>
        <p:txBody>
          <a:bodyPr>
            <a:normAutofit/>
          </a:bodyPr>
          <a:lstStyle/>
          <a:p>
            <a:pPr marL="45720" indent="0">
              <a:buNone/>
            </a:pPr>
            <a:r>
              <a:rPr lang="en-US" sz="2000" dirty="0">
                <a:latin typeface="Poppins regular" panose="00000500000000000000"/>
              </a:rPr>
              <a:t>This project focuses on predicting employee attrition using machine learning to help organizations identify employees at risk of leaving. After performing data preprocessing, handling imbalance, and conducting detailed exploratory analysis, multiple models were trained and evaluated. </a:t>
            </a:r>
          </a:p>
          <a:p>
            <a:pPr marL="45720" indent="0">
              <a:buNone/>
            </a:pPr>
            <a:r>
              <a:rPr lang="en-US" sz="2000" dirty="0">
                <a:latin typeface="Poppins regular" panose="00000500000000000000"/>
              </a:rPr>
              <a:t>Random Forest achieved the best performance with the highest and most stable F1-score, making it the final chosen model.</a:t>
            </a:r>
          </a:p>
          <a:p>
            <a:pPr marL="45720" indent="0">
              <a:buNone/>
            </a:pPr>
            <a:r>
              <a:rPr lang="en-US" sz="2000" dirty="0">
                <a:latin typeface="Poppins regular" panose="00000500000000000000"/>
              </a:rPr>
              <a:t>Overall, the project provides a data-driven approach to understand attrition drivers and support strategic HR decision-making.</a:t>
            </a:r>
            <a:endParaRPr lang="en-IN" sz="2000" dirty="0">
              <a:latin typeface="Poppins regular" panose="00000500000000000000"/>
            </a:endParaRPr>
          </a:p>
        </p:txBody>
      </p:sp>
      <p:sp>
        <p:nvSpPr>
          <p:cNvPr id="4" name="Slide Number Placeholder 3">
            <a:extLst>
              <a:ext uri="{FF2B5EF4-FFF2-40B4-BE49-F238E27FC236}">
                <a16:creationId xmlns:a16="http://schemas.microsoft.com/office/drawing/2014/main" id="{F04B9321-EFA1-E84D-64C7-3E450D4903CE}"/>
              </a:ext>
            </a:extLst>
          </p:cNvPr>
          <p:cNvSpPr>
            <a:spLocks noGrp="1"/>
          </p:cNvSpPr>
          <p:nvPr>
            <p:ph type="sldNum" sz="quarter" idx="10"/>
          </p:nvPr>
        </p:nvSpPr>
        <p:spPr/>
        <p:txBody>
          <a:bodyPr/>
          <a:lstStyle/>
          <a:p>
            <a:fld id="{48F63A3B-78C7-47BE-AE5E-E10140E04643}" type="slidenum">
              <a:rPr lang="en-US" smtClean="0"/>
              <a:pPr/>
              <a:t>10</a:t>
            </a:fld>
            <a:endParaRPr lang="en-US" dirty="0"/>
          </a:p>
        </p:txBody>
      </p:sp>
      <p:pic>
        <p:nvPicPr>
          <p:cNvPr id="6" name="Picture 5">
            <a:extLst>
              <a:ext uri="{FF2B5EF4-FFF2-40B4-BE49-F238E27FC236}">
                <a16:creationId xmlns:a16="http://schemas.microsoft.com/office/drawing/2014/main" id="{C247C1AE-0C50-E451-68FD-F06663116633}"/>
              </a:ext>
            </a:extLst>
          </p:cNvPr>
          <p:cNvPicPr>
            <a:picLocks noChangeAspect="1"/>
          </p:cNvPicPr>
          <p:nvPr/>
        </p:nvPicPr>
        <p:blipFill>
          <a:blip r:embed="rId2"/>
          <a:stretch>
            <a:fillRect/>
          </a:stretch>
        </p:blipFill>
        <p:spPr>
          <a:xfrm>
            <a:off x="442757" y="2653480"/>
            <a:ext cx="1551039" cy="1551039"/>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3087582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6A6E3-65F4-21A7-B565-50E63E3DCDFC}"/>
              </a:ext>
            </a:extLst>
          </p:cNvPr>
          <p:cNvSpPr>
            <a:spLocks noGrp="1"/>
          </p:cNvSpPr>
          <p:nvPr>
            <p:ph type="ctrTitle"/>
          </p:nvPr>
        </p:nvSpPr>
        <p:spPr/>
        <p:txBody>
          <a:bodyPr/>
          <a:lstStyle/>
          <a:p>
            <a:r>
              <a:rPr lang="en-IN" sz="4000" b="1" dirty="0">
                <a:latin typeface="Poppins bold"/>
              </a:rPr>
              <a:t>Thank you</a:t>
            </a:r>
          </a:p>
        </p:txBody>
      </p:sp>
      <p:sp>
        <p:nvSpPr>
          <p:cNvPr id="3" name="Subtitle 2">
            <a:extLst>
              <a:ext uri="{FF2B5EF4-FFF2-40B4-BE49-F238E27FC236}">
                <a16:creationId xmlns:a16="http://schemas.microsoft.com/office/drawing/2014/main" id="{F92B50E9-23DF-D7E4-38EE-B3501757EDAA}"/>
              </a:ext>
            </a:extLst>
          </p:cNvPr>
          <p:cNvSpPr>
            <a:spLocks noGrp="1"/>
          </p:cNvSpPr>
          <p:nvPr>
            <p:ph type="subTitle" idx="1"/>
          </p:nvPr>
        </p:nvSpPr>
        <p:spPr/>
        <p:txBody>
          <a:bodyPr/>
          <a:lstStyle/>
          <a:p>
            <a:r>
              <a:rPr lang="en-IN" dirty="0"/>
              <a:t>vaibhavvst8@gmail.com</a:t>
            </a:r>
          </a:p>
        </p:txBody>
      </p:sp>
    </p:spTree>
    <p:extLst>
      <p:ext uri="{BB962C8B-B14F-4D97-AF65-F5344CB8AC3E}">
        <p14:creationId xmlns:p14="http://schemas.microsoft.com/office/powerpoint/2010/main" val="904991467"/>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TM03457444[[fn=Basis]]</Template>
  <TotalTime>415</TotalTime>
  <Words>447</Words>
  <Application>Microsoft Office PowerPoint</Application>
  <PresentationFormat>Widescreen</PresentationFormat>
  <Paragraphs>72</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Corbel</vt:lpstr>
      <vt:lpstr>Poppins bold</vt:lpstr>
      <vt:lpstr>Poppins regular</vt:lpstr>
      <vt:lpstr>Poppins semibold</vt:lpstr>
      <vt:lpstr>Basis</vt:lpstr>
      <vt:lpstr>Employee Attrition       Prediction for HR   </vt:lpstr>
      <vt:lpstr>Agenda</vt:lpstr>
      <vt:lpstr>Objective</vt:lpstr>
      <vt:lpstr>Tools &amp; Technology</vt:lpstr>
      <vt:lpstr>PowerPoint Presentation</vt:lpstr>
      <vt:lpstr>Methodology</vt:lpstr>
      <vt:lpstr>Implementation</vt:lpstr>
      <vt:lpstr>PowerPoint Presentation</vt:lpstr>
      <vt:lpstr>Conclusion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Vaibhav Vst</dc:creator>
  <cp:lastModifiedBy>Vaibhav Vst</cp:lastModifiedBy>
  <cp:revision>2</cp:revision>
  <dcterms:created xsi:type="dcterms:W3CDTF">2025-11-25T10:32:48Z</dcterms:created>
  <dcterms:modified xsi:type="dcterms:W3CDTF">2025-11-25T17:32:51Z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